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017" autoAdjust="0"/>
  </p:normalViewPr>
  <p:slideViewPr>
    <p:cSldViewPr snapToGrid="0" snapToObjects="1">
      <p:cViewPr varScale="1">
        <p:scale>
          <a:sx n="181" d="100"/>
          <a:sy n="181" d="100"/>
        </p:scale>
        <p:origin x="4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0"/>
                </a:solidFill>
                <a:latin typeface="Arial"/>
              </a:rPr>
              <a:t>Churn Rate by Contract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D67-47B0-9D52-AF3142190DEC}"/>
              </c:ext>
            </c:extLst>
          </c:dPt>
          <c:dPt>
            <c:idx val="1"/>
            <c:invertIfNegative val="0"/>
            <c:bubble3D val="0"/>
            <c:spPr>
              <a:solidFill>
                <a:srgbClr val="0EA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67-47B0-9D52-AF3142190DEC}"/>
              </c:ext>
            </c:extLst>
          </c:dPt>
          <c:dPt>
            <c:idx val="2"/>
            <c:invertIfNegative val="0"/>
            <c:bubble3D val="0"/>
            <c:spPr>
              <a:solidFill>
                <a:srgbClr val="A5D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67-47B0-9D52-AF3142190D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18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67-47B0-9D52-AF3142190D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0"/>
                </a:solidFill>
                <a:latin typeface="Arial"/>
              </a:rPr>
              <a:t>Churn Rate by Tenure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E3-4874-991E-CF6842650BBD}"/>
              </c:ext>
            </c:extLst>
          </c:dPt>
          <c:dPt>
            <c:idx val="1"/>
            <c:invertIfNegative val="0"/>
            <c:bubble3D val="0"/>
            <c:spPr>
              <a:solidFill>
                <a:srgbClr val="0EA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E3-4874-991E-CF6842650BBD}"/>
              </c:ext>
            </c:extLst>
          </c:dPt>
          <c:dPt>
            <c:idx val="2"/>
            <c:invertIfNegative val="0"/>
            <c:bubble3D val="0"/>
            <c:spPr>
              <a:solidFill>
                <a:srgbClr val="5BB8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E3-4874-991E-CF6842650BBD}"/>
              </c:ext>
            </c:extLst>
          </c:dPt>
          <c:dPt>
            <c:idx val="3"/>
            <c:invertIfNegative val="0"/>
            <c:bubble3D val="0"/>
            <c:spPr>
              <a:solidFill>
                <a:srgbClr val="A5D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E3-4874-991E-CF6842650BB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0-12 mo</c:v>
                </c:pt>
                <c:pt idx="1">
                  <c:v>13-24 mo</c:v>
                </c:pt>
                <c:pt idx="2">
                  <c:v>25-36 mo</c:v>
                </c:pt>
                <c:pt idx="3">
                  <c:v>37+ mo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35</c:v>
                </c:pt>
                <c:pt idx="2">
                  <c:v>25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E3-4874-991E-CF6842650B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0"/>
                </a:solidFill>
                <a:latin typeface="Arial"/>
              </a:rPr>
              <a:t>Monthly Charges Distribution by Churn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&lt;50</c:v>
                </c:pt>
                <c:pt idx="1">
                  <c:v>50-75</c:v>
                </c:pt>
                <c:pt idx="2">
                  <c:v>75-100</c:v>
                </c:pt>
                <c:pt idx="3">
                  <c:v>&gt;100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28</c:v>
                </c:pt>
                <c:pt idx="2">
                  <c:v>22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9F-4C2B-B93A-4E67F35796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&lt;50</c:v>
                </c:pt>
                <c:pt idx="1">
                  <c:v>50-75</c:v>
                </c:pt>
                <c:pt idx="2">
                  <c:v>75-100</c:v>
                </c:pt>
                <c:pt idx="3">
                  <c:v>&gt;100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9F-4C2B-B93A-4E67F35796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40"/>
                </a:solidFill>
                <a:latin typeface="Arial"/>
              </a:rPr>
              <a:t>Churn Rate by Payment Method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B13-4920-BFEE-1C740C56425C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13-4920-BFEE-1C740C56425C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13-4920-BFEE-1C740C56425C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B13-4920-BFEE-1C740C56425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Electronic
Check</c:v>
                </c:pt>
                <c:pt idx="1">
                  <c:v>Mailed
Check</c:v>
                </c:pt>
                <c:pt idx="2">
                  <c:v>Bank
Transfer</c:v>
                </c:pt>
                <c:pt idx="3">
                  <c:v>Credit
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22</c:v>
                </c:pt>
                <c:pt idx="2">
                  <c:v>17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13-4920-BFEE-1C740C5642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0"/>
                </a:solidFill>
                <a:latin typeface="Arial"/>
              </a:rPr>
              <a:t>Random Forest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cat__Contract_Month-to-month</c:v>
                </c:pt>
                <c:pt idx="1">
                  <c:v>num__Tenure</c:v>
                </c:pt>
                <c:pt idx="2">
                  <c:v>num__MonthlyCharges</c:v>
                </c:pt>
                <c:pt idx="3">
                  <c:v>bin__IsShortTenure</c:v>
                </c:pt>
                <c:pt idx="4">
                  <c:v>num__AvgChargePerMonth</c:v>
                </c:pt>
                <c:pt idx="5">
                  <c:v>bin__IsHighMonthly</c:v>
                </c:pt>
                <c:pt idx="6">
                  <c:v>num__TotalCharges</c:v>
                </c:pt>
                <c:pt idx="7">
                  <c:v>cat__PaymentMethod_Electronic check</c:v>
                </c:pt>
                <c:pt idx="8">
                  <c:v>num__Age</c:v>
                </c:pt>
                <c:pt idx="9">
                  <c:v>bin__SeniorFlag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0.21</c:v>
                </c:pt>
                <c:pt idx="1">
                  <c:v>0.19</c:v>
                </c:pt>
                <c:pt idx="2">
                  <c:v>0.17</c:v>
                </c:pt>
                <c:pt idx="3">
                  <c:v>0.12</c:v>
                </c:pt>
                <c:pt idx="4">
                  <c:v>0.1</c:v>
                </c:pt>
                <c:pt idx="5">
                  <c:v>0.08</c:v>
                </c:pt>
                <c:pt idx="6">
                  <c:v>0.05</c:v>
                </c:pt>
                <c:pt idx="7">
                  <c:v>0.04</c:v>
                </c:pt>
                <c:pt idx="8">
                  <c:v>0.02</c:v>
                </c:pt>
                <c:pt idx="9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C0-429D-84F8-FDE65086C2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40"/>
                </a:solidFill>
                <a:latin typeface="Arial"/>
              </a:rPr>
              <a:t>ROC-AUC Comparison Across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9D-4852-BBBB-98764AD0BA08}"/>
              </c:ext>
            </c:extLst>
          </c:dPt>
          <c:dPt>
            <c:idx val="1"/>
            <c:invertIfNegative val="0"/>
            <c:bubble3D val="0"/>
            <c:spPr>
              <a:solidFill>
                <a:srgbClr val="0EA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9D-4852-BBBB-98764AD0BA08}"/>
              </c:ext>
            </c:extLst>
          </c:dPt>
          <c:dPt>
            <c:idx val="2"/>
            <c:invertIfNegative val="0"/>
            <c:bubble3D val="0"/>
            <c:spPr>
              <a:solidFill>
                <a:srgbClr val="5BB8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9D-4852-BBBB-98764AD0BA08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9D-4852-BBBB-98764AD0BA08}"/>
              </c:ext>
            </c:extLst>
          </c:dPt>
          <c:dPt>
            <c:idx val="4"/>
            <c:invertIfNegative val="0"/>
            <c:bubble3D val="0"/>
            <c:spPr>
              <a:solidFill>
                <a:srgbClr val="6ECF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49D-4852-BBBB-98764AD0BA08}"/>
              </c:ext>
            </c:extLst>
          </c:dPt>
          <c:dPt>
            <c:idx val="5"/>
            <c:invertIfNegative val="0"/>
            <c:bubble3D val="0"/>
            <c:spPr>
              <a:solidFill>
                <a:srgbClr val="A5D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49D-4852-BBBB-98764AD0BA08}"/>
              </c:ext>
            </c:extLst>
          </c:dPt>
          <c:dPt>
            <c:idx val="6"/>
            <c:invertIfNegative val="0"/>
            <c:bubble3D val="0"/>
            <c:spPr>
              <a:solidFill>
                <a:srgbClr val="C8E8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49D-4852-BBBB-98764AD0BA08}"/>
              </c:ext>
            </c:extLst>
          </c:dPt>
          <c:dPt>
            <c:idx val="7"/>
            <c:invertIfNegative val="0"/>
            <c:bubble3D val="0"/>
            <c:spPr>
              <a:solidFill>
                <a:srgbClr val="E0F3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49D-4852-BBBB-98764AD0BA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LR</c:v>
                </c:pt>
                <c:pt idx="1">
                  <c:v>Ensemble</c:v>
                </c:pt>
                <c:pt idx="2">
                  <c:v>GB</c:v>
                </c:pt>
                <c:pt idx="3">
                  <c:v>XGB
Tuned</c:v>
                </c:pt>
                <c:pt idx="4">
                  <c:v>RF</c:v>
                </c:pt>
                <c:pt idx="5">
                  <c:v>SVM</c:v>
                </c:pt>
                <c:pt idx="6">
                  <c:v>DT</c:v>
                </c:pt>
                <c:pt idx="7">
                  <c:v>XGB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0.80600000000000005</c:v>
                </c:pt>
                <c:pt idx="1">
                  <c:v>0.80500000000000005</c:v>
                </c:pt>
                <c:pt idx="2">
                  <c:v>0.80300000000000005</c:v>
                </c:pt>
                <c:pt idx="3">
                  <c:v>0.80500000000000005</c:v>
                </c:pt>
                <c:pt idx="4">
                  <c:v>0.80200000000000005</c:v>
                </c:pt>
                <c:pt idx="5">
                  <c:v>0.80200000000000005</c:v>
                </c:pt>
                <c:pt idx="6">
                  <c:v>0.80200000000000005</c:v>
                </c:pt>
                <c:pt idx="7">
                  <c:v>0.80200000000000005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49D-4852-BBBB-98764AD0BA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2"/>
          <c:min val="0.79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79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Group 6 final project for AAI-510. Presenter: introduce yourselves briefly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8 sections. This deck covers the full ML lifecycle from problem statement through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churn is a revenue problem, not just a data science exercise. Every missed churner = lost revenue that a model could have prevented.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key finding: month-to-month contract customers churn at 52% vs 8% for two-year contracts. Short-tenure customers (under 12 months) also at highest risk. These findings directly drove our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high charges AND electronic check payment predict churn. These are behavioral signals — possibly customers who review their bills monthly and are most sensitive to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 engineered features come directly from EDA insights. Train/test split was done BEFORE fitting the preprocessor to prevent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validated the importance ranking with correlation analysis. Both methods agreed — contract type, tenure, and monthly charges are the dominant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Counter-intuitive result: Logistic Regression outperforms more complex models on ROC-AUC. This is consistent with the feature set being largely linear in nature. The Voting Ensemble improves recall slightly but LR wins on the primary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 for CTO: ROC-AUC of 0.806 means the model correctly ranks 80.6% of churner/non-churner pairs. At the chosen 0.40 threshold, we catch 58.5% of actual churners — nearly 1 in 5 that would otherwise be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actually deployed — not just hypothetical. A FastAPI backend + Streamlit front-end allows both individual and batch scoring. The 0.40 threshold was chosen deliberately to maximize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business message: this model is production-ready and deployed. With 58.5% recall, it identifies ~19,000 of 33,000 likely churners — each saved customer representing $X in lifetime value. Next step: integrate NPS and call-center data for AUC &gt; 0.85.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320040"/>
            <a:ext cx="1097280" cy="109728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 Industry · Machine Learning Solution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3200400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San Diego — AAI-510 Group 6
</a:t>
            </a: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 Prakash Dwivedi  ·  Jagdish Mane  ·  Tamayi Mlanda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Statement &amp; Justification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01952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E8F4F6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 Understanding &amp; EDA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752344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Data Preparation &amp; Feature Engineering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602736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E8F4F6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64845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Feature Selection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05156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097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Modeling — Selection, Comparison &amp; Ensembles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1901952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E8F4F6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94767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Evaluation — Performance &amp; Results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2752344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279806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Deployment Architecture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602736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E8F4F6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364845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Discussion &amp; Conclusions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91440"/>
            <a:ext cx="1463040" cy="146304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Justification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3657600" cy="27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42550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$136B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Churn (Global Telco)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42550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1155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3–5×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29000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to Acquire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Retain 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142550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11155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55080" y="1719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51760"/>
            <a:ext cx="4069080" cy="2103120"/>
          </a:xfrm>
          <a:prstGeom prst="roundRect">
            <a:avLst>
              <a:gd name="adj" fmla="val 4348"/>
            </a:avLst>
          </a:prstGeom>
          <a:solidFill>
            <a:srgbClr val="0A153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7249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090672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providers cannot distinguish loyal customers from those about to leave until it's too late. Retention offers sent post-churn yield zero value.
</a:t>
            </a: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r>
              <a:rPr lang="en-US" sz="11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 a binary classifier to flag at-risk customers early enough for proactive retention action.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069080" cy="2103120"/>
          </a:xfrm>
          <a:prstGeom prst="roundRect">
            <a:avLst>
              <a:gd name="adj" fmla="val 4348"/>
            </a:avLst>
          </a:prstGeom>
          <a:solidFill>
            <a:srgbClr val="0A153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7249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090672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 churn prediction as a </a:t>
            </a: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binary classification</a:t>
            </a:r>
            <a:r>
              <a:rPr lang="en-US" sz="11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100,000 synthetic Telco records (Kaggle).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&amp; Recall</a:t>
            </a:r>
            <a:r>
              <a:rPr lang="en-US" sz="11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because missing a real churner is costlier than a false alarm.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 &amp; EDA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93268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7752" y="960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87752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64024" y="93268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64024" y="960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64024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932688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40296" y="960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0296" y="1371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11480" y="182880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/>
        </p:nvGraphicFramePr>
        <p:xfrm>
          <a:off x="4617720" y="182880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Feature Relationships with Churn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96012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17720" y="960120"/>
          <a:ext cx="41148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3886200"/>
            <a:ext cx="8321040" cy="1024128"/>
          </a:xfrm>
          <a:prstGeom prst="roundRect">
            <a:avLst>
              <a:gd name="adj" fmla="val 7143"/>
            </a:avLst>
          </a:prstGeom>
          <a:solidFill>
            <a:srgbClr val="EBF8F6"/>
          </a:solidFill>
          <a:ln w="1524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66928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66928" y="418795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monthly charges (&gt;$100) correlate strongly with churn — customers feel they are not getting value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churn at 47%, the highest of all payment methods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 is roughly equal (Female ~40%, Male ~40%, Other ~20%) with no significant churn difference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3327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33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rows — fully clean dataset confirmed. No imputation needed.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99339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933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9659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Outliers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22199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check shows minimal outliers; synthetic bounds prevent extremes. All rows retained.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8803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" y="295351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Dropped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1821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— zero predictive value. Removed before modeling.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8404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913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8862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Validated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14223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TotalCharges ≈ Tenure × MonthlyCharges + small noise. Column is consistent.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E8F8F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1024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Features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463040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E8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56048" y="1499616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AvgChargePerMonth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56048" y="1737360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/ Tenure · Spend-intensity; levels out monthly variation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258568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E8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2295144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IsShortTenure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56048" y="253288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&lt; 12 → binary flag · New customers churn at much higher rates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054096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E8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56048" y="3090672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IsHighMonthly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56048" y="3328416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 &gt; $100 → flag · Price sensitivity signal from EDA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849624"/>
            <a:ext cx="3749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E8E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56048" y="3886200"/>
            <a:ext cx="3529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SeniorFlag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56048" y="4123944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 60 → binary flag · Demographic segment with distinct patterns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4800600"/>
            <a:ext cx="8321040" cy="201168"/>
          </a:xfrm>
          <a:prstGeom prst="roundRect">
            <a:avLst>
              <a:gd name="adj" fmla="val 22727"/>
            </a:avLst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80974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StandardScaler (numeric) · Passthrough (binary flags) · OneHotEncoder (categoricals) — fitted on train set only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methods were used to rank features, then cross-validated to confirm stability.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2801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261872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61888" y="12984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(All Retained)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61888" y="15727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(Month-to-Month)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61888" y="17373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61888" y="190195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61888" y="206654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IsShortTenure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61888" y="223113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AvgChargePerMonth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2560320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61888" y="25968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Predictors (Retained)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61888" y="287121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IsHighMonthly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61888" y="303580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61888" y="32004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 (Electronic Check)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52160" y="3858768"/>
            <a:ext cx="2880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61888" y="38953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Predictors (Retained — minimal cost)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61888" y="4169664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SeniorFlag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61888" y="433425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(all 3 categories)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1480" y="4776685"/>
            <a:ext cx="8321040" cy="256032"/>
          </a:xfrm>
          <a:prstGeom prst="roundRect">
            <a:avLst>
              <a:gd name="adj" fmla="val 17857"/>
            </a:avLst>
          </a:prstGeom>
          <a:solidFill>
            <a:srgbClr val="EBF8F6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" y="476402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All 18 encoded features retained. Correlation and RF importance agree — no feature shows zero predictive signal.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— Selection, Comparison &amp; Ensembles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7315200" cy="22021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CV AUC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40"/>
                          </a:solidFill>
                        </a:rPr>
                        <a:t>Logistic Regression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40"/>
                          </a:solidFill>
                        </a:rPr>
                        <a:t>75.97%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40"/>
                          </a:solidFill>
                        </a:rPr>
                        <a:t>65.36%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40"/>
                          </a:solidFill>
                        </a:rPr>
                        <a:t>58.50%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40"/>
                          </a:solidFill>
                        </a:rPr>
                        <a:t>61.74%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40"/>
                          </a:solidFill>
                        </a:rPr>
                        <a:t>0.806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40"/>
                          </a:solidFill>
                        </a:rPr>
                        <a:t>0.806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D8"/>
                          </a:solidFill>
                        </a:rPr>
                        <a:t>Voting Ensemble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75.53%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63.60%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61.19%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62.37%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D8"/>
                          </a:solidFill>
                        </a:rPr>
                        <a:t>Gradient Boosting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74.59%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61.34%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63.13%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62.22%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D8"/>
                          </a:solidFill>
                        </a:rPr>
                        <a:t>XGBoost (tuned)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74.09%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60.42%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63.25%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61.80%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D8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73.91%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60.01%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63.78%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61.84%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D8"/>
                          </a:solidFill>
                        </a:rPr>
                        <a:t>SVM (RBF, subsample)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73.80%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59.59%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65.11%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62.23%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0.794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D8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73.71%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59.66%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63.89%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61.70%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A8C8D8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71.90%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56.39%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67.19%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61.32%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</a:rPr>
                        <a:t>0.800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F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2793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Logistic Regression selected as final model — highest ROC-AUC, best CV consistency, and interpretability for business stakeholders.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1480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</a:t>
            </a:r>
            <a:r>
              <a:rPr lang="en-US" sz="10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base models → cross-validation comparison → RandomizedSearchCV tuning (RF &amp; XGBoost) → Soft-Voting Ensemble (RF + XGBoost + LR)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Performance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80.6%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87752" y="9144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8775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87752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7752" y="1783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Caught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64024" y="9144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6402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65.4%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64024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024" y="1783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Accuracy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0296" y="9144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5BB8B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029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B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40296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0296" y="1783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</a:t>
            </a:r>
            <a:endParaRPr lang="en-US" sz="9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11480" y="2331720"/>
          <a:ext cx="47548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303520" y="2331720"/>
            <a:ext cx="3429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13248" y="2359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Choice: 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13248" y="2578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0.40 threshold (vs. 0.50) favors recall — missing a churner costs more than a false alert.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303520" y="2990088"/>
            <a:ext cx="3429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24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413248" y="3017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CV: 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13248" y="32369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 = 0.8058 vs. test 0.8057 — virtually no overfitting, model generalizes well.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303520" y="3648456"/>
            <a:ext cx="3429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24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13248" y="36758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Validation: 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13248" y="3895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Tenure, and MonthlyCharges dominate predictions — confirming EDA insights.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303520" y="4306824"/>
            <a:ext cx="34290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524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13248" y="43342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413248" y="4553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58.5% recall on 33,000 churners, the model flags ~19,300 at-risk customers for retention action.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22860">
            <a:solidFill>
              <a:srgbClr val="64748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332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42646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or API call)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37944" y="1572768"/>
            <a:ext cx="347472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38528" y="1508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100584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8F4F6"/>
          </a:solidFill>
          <a:ln w="2286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40" y="10332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142646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83864" y="1572768"/>
            <a:ext cx="347472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84448" y="1508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100584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BF8F6"/>
          </a:solidFill>
          <a:ln w="2286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10332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142646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29784" y="1572768"/>
            <a:ext cx="347472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30368" y="1508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12080" y="100584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8F4F6"/>
          </a:solidFill>
          <a:ln w="2286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10332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12080" y="142646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75704" y="1572768"/>
            <a:ext cx="347472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76288" y="1508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00584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2286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0" y="10332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58000" y="142646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2377440"/>
            <a:ext cx="3977640" cy="2423160"/>
          </a:xfrm>
          <a:prstGeom prst="roundRect">
            <a:avLst>
              <a:gd name="adj" fmla="val 3774"/>
            </a:avLst>
          </a:prstGeom>
          <a:solidFill>
            <a:srgbClr val="F0F4F8"/>
          </a:solidFill>
          <a:ln w="2286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24414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Service (api/)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279806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trained artifacts: best_model.pkl + preprocessor.pkl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1821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4 derived features identically to notebook 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5661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Endpoints: /predict (single), /predict/batch (CSV), /health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95020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decision threshold (default: 0.40 for recall priority)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33425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LLM-guided field collection via /chat endpoint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377440"/>
            <a:ext cx="3977640" cy="2423160"/>
          </a:xfrm>
          <a:prstGeom prst="roundRect">
            <a:avLst>
              <a:gd name="adj" fmla="val 3774"/>
            </a:avLst>
          </a:prstGeom>
          <a:solidFill>
            <a:srgbClr val="F0F4F8"/>
          </a:solidFill>
          <a:ln w="2286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0600" y="24414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Client (client/)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279806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form for single customer scoring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18211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CSV upload with downloadable scored output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5661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churn probability display with risk badge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395020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slider — lets analysts tune precision/recall trade-off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33425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natural-language intake when API key is configured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3703320"/>
            <a:ext cx="1234440" cy="123444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" y="45720"/>
            <a:ext cx="1371600" cy="13716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Conclusions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0A1530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6926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Addressed: </a:t>
            </a:r>
            <a:r>
              <a:rPr lang="en-US" sz="12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identify which customers will churn before they leave?  </a:t>
            </a: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— ROC-AUC 0.806 on 100K records.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0A1530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18105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21284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 and high monthly charges are the strongest churn drivers. Retention strategy should target these segments first — contract upgrade offers and pricing reviews would yield the highest ROI.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7373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0A1530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20440" y="181051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05072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6432" y="221284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delivered the best ROC-AUC (0.806) with CV consistency (0.8058). Complexity did not help — the relationship between features and churn is largely linear. Simple, interpretable models are preferred by business stakeholders.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73736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0A1530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18105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31152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82512" y="221284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0.40 threshold to prioritize recall. Integrate batch scoring weekly. Monitor feature drift (contract mix, pricing changes). Enrich data with call-center interactions and NPS scores to push AUC above 0.85.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"/>
            <a:ext cx="2743200" cy="27432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91840"/>
            <a:ext cx="1463040" cy="146304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AAI-510  ·  University of San Diego
</a:t>
            </a:r>
            <a:r>
              <a:rPr lang="en-US" sz="13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 Prakash Dwivedi  ·  Jagdish Mane  ·  Tamayi Mlanda
</a:t>
            </a:r>
            <a:r>
              <a:rPr lang="en-US" sz="13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Prof. Azka Azka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Telco Customer Churn (Dhrubang Talukdar) · Apache 2.0  |  Model: Logistic Regression  |  ROC-AUC: 0.806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1495</Words>
  <Application>Microsoft Office PowerPoint</Application>
  <PresentationFormat>On-screen Show (16:9)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Prediction</dc:title>
  <dc:subject>PptxGenJS Presentation</dc:subject>
  <dc:creator>AAI-510 Group 6 — USD</dc:creator>
  <cp:lastModifiedBy>Jagdish MAne</cp:lastModifiedBy>
  <cp:revision>3</cp:revision>
  <dcterms:created xsi:type="dcterms:W3CDTF">2026-06-14T10:07:35Z</dcterms:created>
  <dcterms:modified xsi:type="dcterms:W3CDTF">2026-06-14T10:48:13Z</dcterms:modified>
</cp:coreProperties>
</file>